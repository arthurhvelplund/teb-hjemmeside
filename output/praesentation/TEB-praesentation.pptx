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Problemet" id="{2b9ee27e-aef6-2004-685a-7d1784453090}">
          <p14:sldIdLst>
            <p14:sldId id="256"/>
            <p14:sldId id="257"/>
            <p14:sldId id="258"/>
            <p14:sldId id="259"/>
            <p14:sldId id="260"/>
          </p14:sldIdLst>
        </p14:section>
        <p14:section name="2. Kanalerne" id="{c9657bbc-f284-87ab-29b3-969e08eed70d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3. Løsningen" id="{a4a92e6a-f112-77b6-ab54-5c77c9429d21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4. Afslutning" id="{f3173a97-f25c-3e53-49b4-c7cf563b0beb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Velkomst. Kort: vi har et fælles problem, og vi vil gerne løse det sammen med jer.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Understreg at det ikke er TEB's mening – det er jeres. Vi har lyttet i hele 2025/26.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 spørgsmålet højt og vent. Lad 3-4 personer svare. Pointen er, at svarene er forskellige.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Samme øvelse, nu fra afsendersiden. Mange har en favorit – men ikke den samme.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Overgang: nu viser vi, hvad vi fandt. Lad det gå hurtigt – hver kanal får ca. 10 sekunder.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kender vi ikke det fulde antal endnu – det finder vi ud af. Sig 'mange'. Vis en collage.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her. Lad billedet fra collagen sidde.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Brug det ærligt: vi ville invitere jer alle, men kunne ikke finde en opdateret liste nogen steder.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Understreg: vi bygger ikke en ny konkurrent. Alle kan bruge deres egne kanaler som i 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dele. Erhverv holdes ude af dette møde.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løser vi bonusproblemet: en levende foreningsliste, hvor foreningen selv holder oplysningerne ved lige.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Ingen adgangskode: man skriver sin e-mail og får en engangskode. Enkelt for 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ejer vi ikke indholdet – vi linker ud så godt vi kan. Alle kan stadig bruge de kanaler, de kender.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er den vigtigste slide. Før: send til andre og vent. Nu: opret selv, ét 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 arrangement ind, mange kanaler ud. Det er værdien. Understreg at det også er de analoge.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kalender i uge- eller månedsvisning, inspireret af Pulsen i Vest. Analog oversigt pr. kvartal – endnu ikke besluttet.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Logget ind: opret frit. Ikke logget ind: TEB godkender via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det konkret og kort. Hvert punkt er en gevinst for dem selv.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Slut med en konkret opfordring og en dato. Sæt dato på inden mødet.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afrunding. Ikke noget vi skal beslutte i 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K">
    <p:bg>
      <p:bgPr>
        <a:solidFill>
          <a:srgbClr val="24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YS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 Tistrup – ét sted at finde ud af, hvad der sker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B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 Erhvervs- og Borgerforening (TEB)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har lyttet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 og udviklingsmøder i 2025/2026</a:t>
            </a:r>
            <a:endParaRPr lang="en-US" sz="2200" dirty="0"/>
          </a:p>
        </p:txBody>
      </p:sp>
      <p:sp>
        <p:nvSpPr>
          <p:cNvPr id="6" name="Citat"/>
          <p:cNvSpPr/>
          <p:nvPr/>
        </p:nvSpPr>
        <p:spPr>
          <a:xfrm>
            <a:off x="5120640" y="1737360"/>
            <a:ext cx="6400800" cy="3566160"/>
          </a:xfrm>
          <a:prstGeom prst="roundRect">
            <a:avLst>
              <a:gd name="adj" fmla="val 3077"/>
            </a:avLst>
          </a:prstGeom>
          <a:solidFill>
            <a:srgbClr val="243B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0" y="210312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E9B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gennemgående efterspørgsel på alle møder:</a:t>
            </a:r>
            <a:endParaRPr lang="en-US" sz="18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”Vi har et problem med kommunikation i Tistrup.”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borger: hvor går du hen for at se, hvad der sker?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201168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hjemmeside?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Opslagstavlen ved Brugsen?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ven?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4937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var uenige om svaret. Det var meget spredt.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forening: hvor deler du dit arrangement?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hvem skal du kontakte for at komme med?</a:t>
            </a:r>
            <a:endParaRPr lang="en-US" sz="2200" dirty="0"/>
          </a:p>
        </p:txBody>
      </p:sp>
      <p:sp>
        <p:nvSpPr>
          <p:cNvPr id="5" name="Kort 1"/>
          <p:cNvSpPr/>
          <p:nvPr/>
        </p:nvSpPr>
        <p:spPr>
          <a:xfrm>
            <a:off x="640080" y="256032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3D6048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834640"/>
            <a:ext cx="19316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Egen side eller gruppe</a:t>
            </a:r>
            <a:endParaRPr lang="en-US" sz="1800" dirty="0"/>
          </a:p>
        </p:txBody>
      </p:sp>
      <p:sp>
        <p:nvSpPr>
          <p:cNvPr id="7" name="Kort 2"/>
          <p:cNvSpPr/>
          <p:nvPr/>
        </p:nvSpPr>
        <p:spPr>
          <a:xfrm>
            <a:off x="3440430" y="256032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243B2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14750" y="2834640"/>
            <a:ext cx="19316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Lokalavis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til en redaktør</a:t>
            </a:r>
            <a:endParaRPr lang="en-US" sz="1800" dirty="0"/>
          </a:p>
        </p:txBody>
      </p:sp>
      <p:sp>
        <p:nvSpPr>
          <p:cNvPr id="9" name="Kort 3"/>
          <p:cNvSpPr/>
          <p:nvPr/>
        </p:nvSpPr>
        <p:spPr>
          <a:xfrm>
            <a:off x="6240780" y="256032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3D6048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5100" y="2834640"/>
            <a:ext cx="19316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Hjemmesider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til flere forskellige</a:t>
            </a:r>
            <a:endParaRPr lang="en-US" sz="1800" dirty="0"/>
          </a:p>
        </p:txBody>
      </p:sp>
      <p:sp>
        <p:nvSpPr>
          <p:cNvPr id="11" name="Kort 4"/>
          <p:cNvSpPr/>
          <p:nvPr/>
        </p:nvSpPr>
        <p:spPr>
          <a:xfrm>
            <a:off x="9041130" y="256032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243B2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15450" y="2834640"/>
            <a:ext cx="19316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Fysisk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Flyers, tavler, lygtepæle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 har deres fortrukne. Vi er ikke alle enige.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Så vi kortlagde alle kanaler. Advarsel: listen er lang</a:t>
            </a:r>
            <a:endParaRPr lang="en-US" sz="3600" dirty="0"/>
          </a:p>
        </p:txBody>
      </p:sp>
      <p:sp>
        <p:nvSpPr>
          <p:cNvPr id="4" name="Kategori 1"/>
          <p:cNvSpPr/>
          <p:nvPr/>
        </p:nvSpPr>
        <p:spPr>
          <a:xfrm>
            <a:off x="640080" y="2103120"/>
            <a:ext cx="1956816" cy="292608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28600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Kommunalt</a:t>
            </a:r>
            <a:endParaRPr lang="en-US" sz="1800" dirty="0"/>
          </a:p>
        </p:txBody>
      </p:sp>
      <p:sp>
        <p:nvSpPr>
          <p:cNvPr id="7" name="Kategori 2"/>
          <p:cNvSpPr/>
          <p:nvPr/>
        </p:nvSpPr>
        <p:spPr>
          <a:xfrm>
            <a:off x="2871216" y="2103120"/>
            <a:ext cx="1956816" cy="292608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71216" y="228600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3054096" y="374904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hjemmesider</a:t>
            </a:r>
            <a:endParaRPr lang="en-US" sz="1800" dirty="0"/>
          </a:p>
        </p:txBody>
      </p:sp>
      <p:sp>
        <p:nvSpPr>
          <p:cNvPr id="10" name="Kategori 3"/>
          <p:cNvSpPr/>
          <p:nvPr/>
        </p:nvSpPr>
        <p:spPr>
          <a:xfrm>
            <a:off x="5102352" y="2103120"/>
            <a:ext cx="1956816" cy="292608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02352" y="228600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5285232" y="374904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800" dirty="0"/>
          </a:p>
        </p:txBody>
      </p:sp>
      <p:sp>
        <p:nvSpPr>
          <p:cNvPr id="13" name="Kategori 4"/>
          <p:cNvSpPr/>
          <p:nvPr/>
        </p:nvSpPr>
        <p:spPr>
          <a:xfrm>
            <a:off x="7333488" y="2103120"/>
            <a:ext cx="1956816" cy="292608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33488" y="228600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5" name="Text 12"/>
          <p:cNvSpPr txBox="1"/>
          <p:nvPr/>
        </p:nvSpPr>
        <p:spPr>
          <a:xfrm>
            <a:off x="7516368" y="374904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Fysiske steder</a:t>
            </a:r>
            <a:endParaRPr lang="en-US" sz="1800" dirty="0"/>
          </a:p>
        </p:txBody>
      </p:sp>
      <p:sp>
        <p:nvSpPr>
          <p:cNvPr id="16" name="Kategori 5"/>
          <p:cNvSpPr/>
          <p:nvPr/>
        </p:nvSpPr>
        <p:spPr>
          <a:xfrm>
            <a:off x="9564624" y="2103120"/>
            <a:ext cx="1956816" cy="2926080"/>
          </a:xfrm>
          <a:prstGeom prst="roundRect">
            <a:avLst>
              <a:gd name="adj" fmla="val 5607"/>
            </a:avLst>
          </a:prstGeom>
          <a:solidFill>
            <a:srgbClr val="C45A3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64624" y="228600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6400" dirty="0"/>
          </a:p>
        </p:txBody>
      </p:sp>
      <p:sp>
        <p:nvSpPr>
          <p:cNvPr id="18" name="Text 15"/>
          <p:cNvSpPr txBox="1"/>
          <p:nvPr/>
        </p:nvSpPr>
        <p:spPr>
          <a:xfrm>
            <a:off x="9747504" y="374904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Foreningernes egne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 for kommunalt, hjemmesider, Facebook og fysiske steder er antal slides i gennemgangen. Rettes, hvis vi har glemt nogen.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Fællesskaber Varde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Varde Kommunes platform for foreninger og aktiviteter.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fællesskabervarde.dk – aktiviteter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Pulsen i Vest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kalender og nyheder for Vestjylland.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pulsenivest.dk – kalender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Ruban.nu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 kanal vi også skal forholde os til.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ruban.nu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Tistrupnyt.dk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hjemmeside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nyheder fra Tistrup.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tistrupnyt.dk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Tistrupnews.dk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hjemmeside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Endnu en lokal nyhedsside for Tistrup.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tistrupnews.dk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tistrupby.dk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hjemmeside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Hjemmeside om Tistrup by.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tistrupby.dk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vores-tistrup.dk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hjemmeside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side for borgere i Tistrup.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vores-tistrup.dk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localnews.dk, Hodde og Ølgod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hjemmeside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Lokalnyheder samt tilsvarende sider i nabobyerne – og flere til.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localnews.dk + nabobyernes sider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grupper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Facebook-grupper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– til og fra Tistrup. Os der bor i Tistrup og Hodde. Tistrup – fællesskab og dialog (TEB).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Skærmbillede af hver gruppe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Tistrup Nyt og TEB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Facebook-sider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 Nyt og Tistrup Erhvervs- og Borgerforening.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Skærmbillede af begge sider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Flyers og byportaler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Fysisk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Uddeling af flyers til postkasser og de analoge byportaler.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af flyer og byportal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Infoskærme, tavler og lygtepæle</a:t>
            </a:r>
            <a:endParaRPr lang="en-US" sz="3600" dirty="0"/>
          </a:p>
        </p:txBody>
      </p:sp>
      <p:sp>
        <p:nvSpPr>
          <p:cNvPr id="3" name="Kategori"/>
          <p:cNvSpPr/>
          <p:nvPr/>
        </p:nvSpPr>
        <p:spPr>
          <a:xfrm>
            <a:off x="640080" y="155448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45A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Fysisk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Infoskærme, opslagstavler og lygtepæle i byen.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Svaghed: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udfyldes</a:t>
            </a:r>
            <a:endParaRPr lang="en-US" sz="1600" dirty="0"/>
          </a:p>
        </p:txBody>
      </p:sp>
      <p:sp>
        <p:nvSpPr>
          <p:cNvPr id="7" name="Screenshot-pladsholder"/>
          <p:cNvSpPr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af skærm, tavle og lygtepæl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så alle foreningernes egne hjemmesider og Facebook-sider</a:t>
            </a:r>
            <a:endParaRPr lang="en-US" sz="3600" dirty="0"/>
          </a:p>
        </p:txBody>
      </p:sp>
      <p:sp>
        <p:nvSpPr>
          <p:cNvPr id="4" name="Collage 1"/>
          <p:cNvSpPr/>
          <p:nvPr/>
        </p:nvSpPr>
        <p:spPr>
          <a:xfrm>
            <a:off x="640080" y="16459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640080" y="16459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1</a:t>
            </a:r>
            <a:endParaRPr lang="en-US" sz="1400" dirty="0"/>
          </a:p>
        </p:txBody>
      </p:sp>
      <p:sp>
        <p:nvSpPr>
          <p:cNvPr id="6" name="Collage 2"/>
          <p:cNvSpPr/>
          <p:nvPr/>
        </p:nvSpPr>
        <p:spPr>
          <a:xfrm>
            <a:off x="3417570" y="16459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3417570" y="16459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2</a:t>
            </a:r>
            <a:endParaRPr lang="en-US" sz="1400" dirty="0"/>
          </a:p>
        </p:txBody>
      </p:sp>
      <p:sp>
        <p:nvSpPr>
          <p:cNvPr id="8" name="Collage 3"/>
          <p:cNvSpPr/>
          <p:nvPr/>
        </p:nvSpPr>
        <p:spPr>
          <a:xfrm>
            <a:off x="6195060" y="16459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195060" y="16459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3</a:t>
            </a:r>
            <a:endParaRPr lang="en-US" sz="1400" dirty="0"/>
          </a:p>
        </p:txBody>
      </p:sp>
      <p:sp>
        <p:nvSpPr>
          <p:cNvPr id="10" name="Collage 4"/>
          <p:cNvSpPr/>
          <p:nvPr/>
        </p:nvSpPr>
        <p:spPr>
          <a:xfrm>
            <a:off x="8972550" y="16459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972550" y="16459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4</a:t>
            </a:r>
            <a:endParaRPr lang="en-US" sz="1400" dirty="0"/>
          </a:p>
        </p:txBody>
      </p:sp>
      <p:sp>
        <p:nvSpPr>
          <p:cNvPr id="12" name="Collage 5"/>
          <p:cNvSpPr/>
          <p:nvPr/>
        </p:nvSpPr>
        <p:spPr>
          <a:xfrm>
            <a:off x="640080" y="37033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40080" y="37033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5</a:t>
            </a:r>
            <a:endParaRPr lang="en-US" sz="1400" dirty="0"/>
          </a:p>
        </p:txBody>
      </p:sp>
      <p:sp>
        <p:nvSpPr>
          <p:cNvPr id="14" name="Collage 6"/>
          <p:cNvSpPr/>
          <p:nvPr/>
        </p:nvSpPr>
        <p:spPr>
          <a:xfrm>
            <a:off x="3417570" y="37033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3417570" y="37033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6</a:t>
            </a:r>
            <a:endParaRPr lang="en-US" sz="1400" dirty="0"/>
          </a:p>
        </p:txBody>
      </p:sp>
      <p:sp>
        <p:nvSpPr>
          <p:cNvPr id="16" name="Collage 7"/>
          <p:cNvSpPr/>
          <p:nvPr/>
        </p:nvSpPr>
        <p:spPr>
          <a:xfrm>
            <a:off x="6195060" y="37033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195060" y="37033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7</a:t>
            </a:r>
            <a:endParaRPr lang="en-US" sz="1400" dirty="0"/>
          </a:p>
        </p:txBody>
      </p:sp>
      <p:sp>
        <p:nvSpPr>
          <p:cNvPr id="18" name="Collage 8"/>
          <p:cNvSpPr/>
          <p:nvPr/>
        </p:nvSpPr>
        <p:spPr>
          <a:xfrm>
            <a:off x="8972550" y="3703320"/>
            <a:ext cx="254889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A6F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972550" y="3703320"/>
            <a:ext cx="25488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Udklip 8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[Antal] hjemmesider og Facebook-sider – endnu ikke talt op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kan simpelthen ikke passe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B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kilde har sine styrker og svagheder – men samlet er det uoverskueligt.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ingen har en opdateret foreningsliste</a:t>
            </a:r>
            <a:endParaRPr lang="en-US" sz="3600" dirty="0"/>
          </a:p>
        </p:txBody>
      </p:sp>
      <p:sp>
        <p:nvSpPr>
          <p:cNvPr id="4" name="Kort"/>
          <p:cNvSpPr/>
          <p:nvPr/>
        </p:nvSpPr>
        <p:spPr>
          <a:xfrm>
            <a:off x="64008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0116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ville invitere jer alle til mødet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fandt ingen opdateret liste over foreninger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Hverken hos kommunen, på nettet eller hos 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0116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Beklager, hvis du er en af dem, vi missede.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1148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er selve problemet: hvis vi ikke kan finde jer, kan borgerne det heller ikke.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Så vi gør noget ved det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B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 som paraply: alle kanaler består, men peger mod ét sted.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dele på den nye hjemmeside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640080" y="1737360"/>
            <a:ext cx="3413760" cy="3931920"/>
          </a:xfrm>
          <a:prstGeom prst="roundRect">
            <a:avLst>
              <a:gd name="adj" fmla="val 3214"/>
            </a:avLst>
          </a:prstGeom>
          <a:solidFill>
            <a:srgbClr val="243B2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011680"/>
            <a:ext cx="286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Foreninger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Oversigt over alle foreninger, og jeres egen portal med login.</a:t>
            </a:r>
            <a:endParaRPr lang="en-US" sz="1800" dirty="0"/>
          </a:p>
        </p:txBody>
      </p:sp>
      <p:sp>
        <p:nvSpPr>
          <p:cNvPr id="6" name="Kort 2"/>
          <p:cNvSpPr/>
          <p:nvPr/>
        </p:nvSpPr>
        <p:spPr>
          <a:xfrm>
            <a:off x="4373880" y="1737360"/>
            <a:ext cx="3413760" cy="3931920"/>
          </a:xfrm>
          <a:prstGeom prst="roundRect">
            <a:avLst>
              <a:gd name="adj" fmla="val 3214"/>
            </a:avLst>
          </a:prstGeom>
          <a:solidFill>
            <a:srgbClr val="C45A3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48200" y="2011680"/>
            <a:ext cx="286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Kalender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Vores egen fælles aktivitetskalender – her opretter I selv.</a:t>
            </a:r>
            <a:endParaRPr lang="en-US" sz="1800" dirty="0"/>
          </a:p>
        </p:txBody>
      </p:sp>
      <p:sp>
        <p:nvSpPr>
          <p:cNvPr id="8" name="Kort 3"/>
          <p:cNvSpPr/>
          <p:nvPr/>
        </p:nvSpPr>
        <p:spPr>
          <a:xfrm>
            <a:off x="8107680" y="1737360"/>
            <a:ext cx="3413760" cy="3931920"/>
          </a:xfrm>
          <a:prstGeom prst="roundRect">
            <a:avLst>
              <a:gd name="adj" fmla="val 3214"/>
            </a:avLst>
          </a:prstGeom>
          <a:solidFill>
            <a:srgbClr val="3D6048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2000" y="2011680"/>
            <a:ext cx="286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sker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Overblik over alt det eksterne, vi linker ud til.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Foreninger: én opdateret liste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373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Søgbar oversigt over alle foreninger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Basale oplysninger og formand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Foreningen holder selv sine oplysninger opdateret</a:t>
            </a:r>
            <a:endParaRPr lang="en-US" sz="1800" dirty="0"/>
          </a:p>
        </p:txBody>
      </p:sp>
      <p:sp>
        <p:nvSpPr>
          <p:cNvPr id="5" name="Screenshot-pladsholder"/>
          <p:cNvSpPr/>
          <p:nvPr/>
        </p:nvSpPr>
        <p:spPr>
          <a:xfrm>
            <a:off x="5852160" y="1737360"/>
            <a:ext cx="56692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852160" y="173736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Foreningsoversigten på hjemmesiden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Foreninger: jeres egen portal</a:t>
            </a:r>
            <a:endParaRPr lang="en-US" sz="3600" dirty="0"/>
          </a:p>
        </p:txBody>
      </p:sp>
      <p:sp>
        <p:nvSpPr>
          <p:cNvPr id="4" name="Trin 1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C45A3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din e-mail</a:t>
            </a:r>
            <a:endParaRPr lang="en-US" sz="1800" dirty="0"/>
          </a:p>
        </p:txBody>
      </p:sp>
      <p:sp>
        <p:nvSpPr>
          <p:cNvPr id="7" name="Trin 2"/>
          <p:cNvSpPr/>
          <p:nvPr/>
        </p:nvSpPr>
        <p:spPr>
          <a:xfrm>
            <a:off x="2971800" y="1737360"/>
            <a:ext cx="822960" cy="822960"/>
          </a:xfrm>
          <a:prstGeom prst="ellipse">
            <a:avLst/>
          </a:prstGeom>
          <a:solidFill>
            <a:srgbClr val="C45A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9718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 en engangskode</a:t>
            </a:r>
            <a:endParaRPr lang="en-US" sz="1800" dirty="0"/>
          </a:p>
        </p:txBody>
      </p:sp>
      <p:sp>
        <p:nvSpPr>
          <p:cNvPr id="10" name="Trin 3"/>
          <p:cNvSpPr/>
          <p:nvPr/>
        </p:nvSpPr>
        <p:spPr>
          <a:xfrm>
            <a:off x="5303520" y="1737360"/>
            <a:ext cx="822960" cy="822960"/>
          </a:xfrm>
          <a:prstGeom prst="ellipse">
            <a:avLst/>
          </a:prstGeom>
          <a:solidFill>
            <a:srgbClr val="C45A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035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ind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8404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portalen kan I: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Redigere jeres profil, billeder og links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hvem der har adgang, og hvem der er formand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og oprette jeres arrangementer</a:t>
            </a:r>
            <a:endParaRPr lang="en-US" sz="1800" dirty="0"/>
          </a:p>
        </p:txBody>
      </p:sp>
      <p:sp>
        <p:nvSpPr>
          <p:cNvPr id="14" name="Screenshot-pladsholder"/>
          <p:cNvSpPr/>
          <p:nvPr/>
        </p:nvSpPr>
        <p:spPr>
          <a:xfrm>
            <a:off x="7223760" y="1737360"/>
            <a:ext cx="42976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7223760" y="1737360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Foreningsportalen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sker: det eksterne samlet ét sted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Det, vi ikke selv er herre over. Vi linker ud.</a:t>
            </a:r>
            <a:endParaRPr lang="en-US" sz="2000" dirty="0"/>
          </a:p>
        </p:txBody>
      </p:sp>
      <p:sp>
        <p:nvSpPr>
          <p:cNvPr id="5" name="Link 1"/>
          <p:cNvSpPr/>
          <p:nvPr/>
        </p:nvSpPr>
        <p:spPr>
          <a:xfrm>
            <a:off x="640080" y="228600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286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TEB's Facebook-opslag</a:t>
            </a:r>
            <a:endParaRPr lang="en-US" sz="2000" dirty="0"/>
          </a:p>
        </p:txBody>
      </p:sp>
      <p:sp>
        <p:nvSpPr>
          <p:cNvPr id="7" name="Link 2"/>
          <p:cNvSpPr/>
          <p:nvPr/>
        </p:nvSpPr>
        <p:spPr>
          <a:xfrm>
            <a:off x="4389120" y="228600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2286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Fællesskaber Varde</a:t>
            </a:r>
            <a:endParaRPr lang="en-US" sz="2000" dirty="0"/>
          </a:p>
        </p:txBody>
      </p:sp>
      <p:sp>
        <p:nvSpPr>
          <p:cNvPr id="9" name="Link 3"/>
          <p:cNvSpPr/>
          <p:nvPr/>
        </p:nvSpPr>
        <p:spPr>
          <a:xfrm>
            <a:off x="8138160" y="228600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2286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Pulsen i Vest</a:t>
            </a:r>
            <a:endParaRPr lang="en-US" sz="2000" dirty="0"/>
          </a:p>
        </p:txBody>
      </p:sp>
      <p:sp>
        <p:nvSpPr>
          <p:cNvPr id="11" name="Link 4"/>
          <p:cNvSpPr/>
          <p:nvPr/>
        </p:nvSpPr>
        <p:spPr>
          <a:xfrm>
            <a:off x="640080" y="402336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023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 Nyt</a:t>
            </a:r>
            <a:endParaRPr lang="en-US" sz="2000" dirty="0"/>
          </a:p>
        </p:txBody>
      </p:sp>
      <p:sp>
        <p:nvSpPr>
          <p:cNvPr id="13" name="Link 5"/>
          <p:cNvSpPr/>
          <p:nvPr/>
        </p:nvSpPr>
        <p:spPr>
          <a:xfrm>
            <a:off x="4389120" y="402336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4023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 News og Tistrup By</a:t>
            </a:r>
            <a:endParaRPr lang="en-US" sz="2000" dirty="0"/>
          </a:p>
        </p:txBody>
      </p:sp>
      <p:sp>
        <p:nvSpPr>
          <p:cNvPr id="15" name="Link 6"/>
          <p:cNvSpPr/>
          <p:nvPr/>
        </p:nvSpPr>
        <p:spPr>
          <a:xfrm>
            <a:off x="8138160" y="402336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4023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Facebook-sider og -grupper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Hvorfor vores egen kalender?</a:t>
            </a:r>
            <a:endParaRPr lang="en-US" sz="3600" dirty="0"/>
          </a:p>
        </p:txBody>
      </p:sp>
      <p:sp>
        <p:nvSpPr>
          <p:cNvPr id="4" name="Før"/>
          <p:cNvSpPr/>
          <p:nvPr/>
        </p:nvSpPr>
        <p:spPr>
          <a:xfrm>
            <a:off x="640080" y="164592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5B5A4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Før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sendte sit arrangement til andre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Tistrup Nyt eller andre sider oprettede det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ventede og håbede</a:t>
            </a:r>
            <a:endParaRPr lang="en-US" sz="1800" dirty="0"/>
          </a:p>
        </p:txBody>
      </p:sp>
      <p:sp>
        <p:nvSpPr>
          <p:cNvPr id="6" name="Nu"/>
          <p:cNvSpPr/>
          <p:nvPr/>
        </p:nvSpPr>
        <p:spPr>
          <a:xfrm>
            <a:off x="6217920" y="164592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C45A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20116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opretter selv dit arrangement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vises på ét fælles sted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kan komme ud i de analoge kanaler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 arrangement. Mange kanaler</a:t>
            </a:r>
            <a:endParaRPr lang="en-US" sz="3600" dirty="0"/>
          </a:p>
        </p:txBody>
      </p:sp>
      <p:sp>
        <p:nvSpPr>
          <p:cNvPr id="4" name="Input"/>
          <p:cNvSpPr/>
          <p:nvPr/>
        </p:nvSpPr>
        <p:spPr>
          <a:xfrm>
            <a:off x="640080" y="256032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C45A3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25603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opretter ét arrangement</a:t>
            </a:r>
            <a:endParaRPr lang="en-US" sz="2200" dirty="0"/>
          </a:p>
        </p:txBody>
      </p:sp>
      <p:sp>
        <p:nvSpPr>
          <p:cNvPr id="6" name="Linje 1"/>
          <p:cNvSpPr/>
          <p:nvPr/>
        </p:nvSpPr>
        <p:spPr>
          <a:xfrm flipV="1">
            <a:off x="3566160" y="1856232"/>
            <a:ext cx="3931920" cy="1618488"/>
          </a:xfrm>
          <a:prstGeom prst="line">
            <a:avLst/>
          </a:prstGeom>
          <a:noFill/>
          <a:ln w="19050">
            <a:solidFill>
              <a:srgbClr val="8A9A6F"/>
            </a:solidFill>
            <a:prstDash val="solid"/>
          </a:ln>
        </p:spPr>
      </p:sp>
      <p:sp>
        <p:nvSpPr>
          <p:cNvPr id="7" name="Kanal 1"/>
          <p:cNvSpPr/>
          <p:nvPr/>
        </p:nvSpPr>
        <p:spPr>
          <a:xfrm>
            <a:off x="7498080" y="155448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243B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0" y="15544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kalender</a:t>
            </a:r>
            <a:endParaRPr lang="en-US" sz="1800" dirty="0"/>
          </a:p>
        </p:txBody>
      </p:sp>
      <p:sp>
        <p:nvSpPr>
          <p:cNvPr id="9" name="Linje 2"/>
          <p:cNvSpPr/>
          <p:nvPr/>
        </p:nvSpPr>
        <p:spPr>
          <a:xfrm flipV="1">
            <a:off x="3566160" y="2633472"/>
            <a:ext cx="3931920" cy="841248"/>
          </a:xfrm>
          <a:prstGeom prst="line">
            <a:avLst/>
          </a:prstGeom>
          <a:noFill/>
          <a:ln w="19050">
            <a:solidFill>
              <a:srgbClr val="8A9A6F"/>
            </a:solidFill>
            <a:prstDash val="solid"/>
          </a:ln>
        </p:spPr>
      </p:sp>
      <p:sp>
        <p:nvSpPr>
          <p:cNvPr id="10" name="Kanal 2"/>
          <p:cNvSpPr/>
          <p:nvPr/>
        </p:nvSpPr>
        <p:spPr>
          <a:xfrm>
            <a:off x="7498080" y="233172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3D604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0" y="23317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Flyers til postkasser</a:t>
            </a:r>
            <a:endParaRPr lang="en-US" sz="1800" dirty="0"/>
          </a:p>
        </p:txBody>
      </p:sp>
      <p:sp>
        <p:nvSpPr>
          <p:cNvPr id="12" name="Linje 3"/>
          <p:cNvSpPr/>
          <p:nvPr/>
        </p:nvSpPr>
        <p:spPr>
          <a:xfrm flipV="1">
            <a:off x="3566160" y="3410712"/>
            <a:ext cx="3931920" cy="64008"/>
          </a:xfrm>
          <a:prstGeom prst="line">
            <a:avLst/>
          </a:prstGeom>
          <a:noFill/>
          <a:ln w="19050">
            <a:solidFill>
              <a:srgbClr val="8A9A6F"/>
            </a:solidFill>
            <a:prstDash val="solid"/>
          </a:ln>
        </p:spPr>
      </p:sp>
      <p:sp>
        <p:nvSpPr>
          <p:cNvPr id="13" name="Kanal 3"/>
          <p:cNvSpPr/>
          <p:nvPr/>
        </p:nvSpPr>
        <p:spPr>
          <a:xfrm>
            <a:off x="7498080" y="310896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3D604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80960" y="31089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Byportaler</a:t>
            </a:r>
            <a:endParaRPr lang="en-US" sz="1800" dirty="0"/>
          </a:p>
        </p:txBody>
      </p:sp>
      <p:sp>
        <p:nvSpPr>
          <p:cNvPr id="15" name="Linje 4"/>
          <p:cNvSpPr/>
          <p:nvPr/>
        </p:nvSpPr>
        <p:spPr>
          <a:xfrm>
            <a:off x="3566160" y="3474720"/>
            <a:ext cx="3931920" cy="713232"/>
          </a:xfrm>
          <a:prstGeom prst="line">
            <a:avLst/>
          </a:prstGeom>
          <a:noFill/>
          <a:ln w="19050">
            <a:solidFill>
              <a:srgbClr val="8A9A6F"/>
            </a:solidFill>
            <a:prstDash val="solid"/>
          </a:ln>
        </p:spPr>
      </p:sp>
      <p:sp>
        <p:nvSpPr>
          <p:cNvPr id="16" name="Kanal 4"/>
          <p:cNvSpPr/>
          <p:nvPr/>
        </p:nvSpPr>
        <p:spPr>
          <a:xfrm>
            <a:off x="7498080" y="388620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3D604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0" y="38862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Infoskærme</a:t>
            </a:r>
            <a:endParaRPr lang="en-US" sz="1800" dirty="0"/>
          </a:p>
        </p:txBody>
      </p:sp>
      <p:sp>
        <p:nvSpPr>
          <p:cNvPr id="18" name="Linje 5"/>
          <p:cNvSpPr/>
          <p:nvPr/>
        </p:nvSpPr>
        <p:spPr>
          <a:xfrm>
            <a:off x="3566160" y="3474720"/>
            <a:ext cx="3931920" cy="1490472"/>
          </a:xfrm>
          <a:prstGeom prst="line">
            <a:avLst/>
          </a:prstGeom>
          <a:noFill/>
          <a:ln w="19050">
            <a:solidFill>
              <a:srgbClr val="8A9A6F"/>
            </a:solidFill>
            <a:prstDash val="solid"/>
          </a:ln>
        </p:spPr>
      </p:sp>
      <p:sp>
        <p:nvSpPr>
          <p:cNvPr id="19" name="Kanal 5"/>
          <p:cNvSpPr/>
          <p:nvPr/>
        </p:nvSpPr>
        <p:spPr>
          <a:xfrm>
            <a:off x="7498080" y="466344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3D604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80960" y="46634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Opslagstavler</a:t>
            </a:r>
            <a:endParaRPr lang="en-US" sz="1800" dirty="0"/>
          </a:p>
        </p:txBody>
      </p:sp>
      <p:sp>
        <p:nvSpPr>
          <p:cNvPr id="21" name="Linje 6"/>
          <p:cNvSpPr/>
          <p:nvPr/>
        </p:nvSpPr>
        <p:spPr>
          <a:xfrm>
            <a:off x="3566160" y="3474720"/>
            <a:ext cx="3931920" cy="2267712"/>
          </a:xfrm>
          <a:prstGeom prst="line">
            <a:avLst/>
          </a:prstGeom>
          <a:noFill/>
          <a:ln w="19050">
            <a:solidFill>
              <a:srgbClr val="8A9A6F"/>
            </a:solidFill>
            <a:prstDash val="solid"/>
          </a:ln>
        </p:spPr>
      </p:sp>
      <p:sp>
        <p:nvSpPr>
          <p:cNvPr id="22" name="Kanal 6"/>
          <p:cNvSpPr/>
          <p:nvPr/>
        </p:nvSpPr>
        <p:spPr>
          <a:xfrm>
            <a:off x="7498080" y="544068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3D604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0" y="54406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Lygtepæle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Kalender: digital og analog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3736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Uge- eller månedsvisning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Inspireret af Pulsen i Vest</a:t>
            </a:r>
            <a:pPr indent="0" marL="0">
              <a:buNone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Enklere design til print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Samlet oversigt hvert kvartal (ikke besluttet endnu)</a:t>
            </a:r>
            <a:endParaRPr lang="en-US" sz="1800" dirty="0"/>
          </a:p>
        </p:txBody>
      </p:sp>
      <p:sp>
        <p:nvSpPr>
          <p:cNvPr id="5" name="Screenshot-pladsholder"/>
          <p:cNvSpPr/>
          <p:nvPr/>
        </p:nvSpPr>
        <p:spPr>
          <a:xfrm>
            <a:off x="5486400" y="1737360"/>
            <a:ext cx="603504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A6F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486400" y="173736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Indsæt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Kalender-prototypen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Sådan opretter du et arrangement</a:t>
            </a:r>
            <a:endParaRPr lang="en-US" sz="3600" dirty="0"/>
          </a:p>
        </p:txBody>
      </p:sp>
      <p:sp>
        <p:nvSpPr>
          <p:cNvPr id="4" name="Logget ind"/>
          <p:cNvSpPr/>
          <p:nvPr/>
        </p:nvSpPr>
        <p:spPr>
          <a:xfrm>
            <a:off x="640080" y="173736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3D604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5840" y="21031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Logget ind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 frit så mange, du vil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Kommer direkte på kalenderen</a:t>
            </a:r>
            <a:endParaRPr lang="en-US" sz="1800" dirty="0"/>
          </a:p>
        </p:txBody>
      </p:sp>
      <p:sp>
        <p:nvSpPr>
          <p:cNvPr id="6" name="Ikke logget ind"/>
          <p:cNvSpPr/>
          <p:nvPr/>
        </p:nvSpPr>
        <p:spPr>
          <a:xfrm>
            <a:off x="6217920" y="173736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243B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Ikke logget ind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arrangementet ind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 får en e-mail og godkender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Derefter kommer det på kalenderen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Hvad får I ud af det?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640080" y="1737360"/>
            <a:ext cx="3413760" cy="3840480"/>
          </a:xfrm>
          <a:prstGeom prst="roundRect">
            <a:avLst>
              <a:gd name="adj" fmla="val 3214"/>
            </a:avLst>
          </a:prstGeom>
          <a:solidFill>
            <a:srgbClr val="243B2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011680"/>
            <a:ext cx="286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Mindre arbejde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 ét sted i stedet for at sende til mange.</a:t>
            </a:r>
            <a:endParaRPr lang="en-US" sz="1800" dirty="0"/>
          </a:p>
        </p:txBody>
      </p:sp>
      <p:sp>
        <p:nvSpPr>
          <p:cNvPr id="6" name="Kort 2"/>
          <p:cNvSpPr/>
          <p:nvPr/>
        </p:nvSpPr>
        <p:spPr>
          <a:xfrm>
            <a:off x="4373880" y="1737360"/>
            <a:ext cx="3413760" cy="3840480"/>
          </a:xfrm>
          <a:prstGeom prst="roundRect">
            <a:avLst>
              <a:gd name="adj" fmla="val 3214"/>
            </a:avLst>
          </a:prstGeom>
          <a:solidFill>
            <a:srgbClr val="C45A3B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48200" y="2011680"/>
            <a:ext cx="286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 synlighed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 i både digitale og analoge kanaler.</a:t>
            </a:r>
            <a:endParaRPr lang="en-US" sz="1800" dirty="0"/>
          </a:p>
        </p:txBody>
      </p:sp>
      <p:sp>
        <p:nvSpPr>
          <p:cNvPr id="8" name="Kort 3"/>
          <p:cNvSpPr/>
          <p:nvPr/>
        </p:nvSpPr>
        <p:spPr>
          <a:xfrm>
            <a:off x="8107680" y="1737360"/>
            <a:ext cx="3413760" cy="3840480"/>
          </a:xfrm>
          <a:prstGeom prst="roundRect">
            <a:avLst>
              <a:gd name="adj" fmla="val 3214"/>
            </a:avLst>
          </a:prstGeom>
          <a:solidFill>
            <a:srgbClr val="3D6048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2000" y="2011680"/>
            <a:ext cx="286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Overblik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alt, hvad der sker i Tistrup, ét sted.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Næste skridt</a:t>
            </a:r>
            <a:endParaRPr lang="en-US" sz="3600" dirty="0"/>
          </a:p>
        </p:txBody>
      </p:sp>
      <p:sp>
        <p:nvSpPr>
          <p:cNvPr id="4" name="Trin 1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rgbClr val="C45A3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737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 jeres forening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Navn, kontaktperson og formand</a:t>
            </a:r>
            <a:endParaRPr lang="en-US" sz="1800" dirty="0"/>
          </a:p>
        </p:txBody>
      </p:sp>
      <p:sp>
        <p:nvSpPr>
          <p:cNvPr id="7" name="Trin 2"/>
          <p:cNvSpPr/>
          <p:nvPr/>
        </p:nvSpPr>
        <p:spPr>
          <a:xfrm>
            <a:off x="640080" y="3063240"/>
            <a:ext cx="914400" cy="914400"/>
          </a:xfrm>
          <a:prstGeom prst="ellipse">
            <a:avLst/>
          </a:prstGeom>
          <a:solidFill>
            <a:srgbClr val="C45A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ind med e-mail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Tjek at profilen er rigtig</a:t>
            </a:r>
            <a:endParaRPr lang="en-US" sz="1800" dirty="0"/>
          </a:p>
        </p:txBody>
      </p:sp>
      <p:sp>
        <p:nvSpPr>
          <p:cNvPr id="10" name="Trin 3"/>
          <p:cNvSpPr/>
          <p:nvPr/>
        </p:nvSpPr>
        <p:spPr>
          <a:xfrm>
            <a:off x="640080" y="4389120"/>
            <a:ext cx="914400" cy="914400"/>
          </a:xfrm>
          <a:prstGeom prst="ellipse">
            <a:avLst/>
          </a:prstGeom>
          <a:solidFill>
            <a:srgbClr val="C45A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4389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 jeres første arrangement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ser vi det i kalenderen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4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Frist: [dato]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A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på sigt: en Tistrup-app?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B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en idé – men samme data kan også ligge i lommen.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B Tistrup">
  <a:themeElements>
    <a:clrScheme name="TEB Tistrup">
      <a:dk1>
        <a:srgbClr val="1C1D18"/>
      </a:dk1>
      <a:lt1>
        <a:srgbClr val="FFFFFF"/>
      </a:lt1>
      <a:dk2>
        <a:srgbClr val="243B2B"/>
      </a:dk2>
      <a:lt2>
        <a:srgbClr val="F6F1E4"/>
      </a:lt2>
      <a:accent1>
        <a:srgbClr val="C45A3B"/>
      </a:accent1>
      <a:accent2>
        <a:srgbClr val="3D6048"/>
      </a:accent2>
      <a:accent3>
        <a:srgbClr val="8A9A6F"/>
      </a:accent3>
      <a:accent4>
        <a:srgbClr val="A8C3C9"/>
      </a:accent4>
      <a:accent5>
        <a:srgbClr val="E9B99F"/>
      </a:accent5>
      <a:accent6>
        <a:srgbClr val="5B5A4F"/>
      </a:accent6>
      <a:hlink>
        <a:srgbClr val="C45A3B"/>
      </a:hlink>
      <a:folHlink>
        <a:srgbClr val="5B5A4F"/>
      </a:folHlink>
    </a:clrScheme>
    <a:fontScheme name="TEB Tistru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 Tistrup – fælles kommunikation</dc:title>
  <dc:subject>PptxGenJS Presentation</dc:subject>
  <dc:creator>TEB</dc:creator>
  <cp:lastModifiedBy>TEB</cp:lastModifiedBy>
  <cp:revision>1</cp:revision>
  <dcterms:created xsi:type="dcterms:W3CDTF">2026-10-18T14:26:16Z</dcterms:created>
  <dcterms:modified xsi:type="dcterms:W3CDTF">2026-10-18T14:26:16Z</dcterms:modified>
</cp:coreProperties>
</file>