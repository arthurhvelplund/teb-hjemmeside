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side og invitation" id="{e90f9853-6ea6-cb27-93c3-2f4a00965956}">
          <p14:sldIdLst>
            <p14:sldId id="256"/>
            <p14:sldId id="257"/>
          </p14:sldIdLst>
        </p14:section>
        <p14:section name="Problemet" id="{3d4d505f-6c1b-cc3f-d887-8d571a03cefc}">
          <p14:sldIdLst>
            <p14:sldId id="258"/>
            <p14:sldId id="259"/>
            <p14:sldId id="260"/>
            <p14:sldId id="261"/>
          </p14:sldIdLst>
        </p14:section>
        <p14:section name="Kanalerne" id="{b45624e4-065f-67be-249c-516dc0d2453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Løsningen" id="{0592a43e-6574-ca5b-141a-8837c92c7e62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Næste skridt" id="{90401d39-ae7f-7286-39fd-eccc9cb07544}">
          <p14:sldIdLst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F69"/>
                </a:solidFill>
              </a:rPr>
              <a:t>SAMMEN OM TISTRUP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403A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DA"/>
                </a:solidFill>
              </a:rPr>
              <a:t>SAMMEN OM TISTRUP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EP">
    <p:bg>
      <p:bgPr>
        <a:solidFill>
          <a:srgbClr val="0C2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DA"/>
                </a:solidFill>
              </a:rPr>
              <a:t>SAMMEN OM TISTRUP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2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ø med bro og shelter i sk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16">
              <a:alpha val="35000"/>
            </a:srgbClr>
          </a:solidFill>
          <a:ln w="12700">
            <a:solidFill>
              <a:srgbClr val="081A16"/>
            </a:solidFill>
            <a:prstDash val="solid"/>
          </a:ln>
        </p:spPr>
      </p:sp>
      <p:sp>
        <p:nvSpPr>
          <p:cNvPr id="4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6916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SAMMEN OM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TISTRUP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Fællesmøde for byens foreninger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4572000"/>
            <a:ext cx="3566160" cy="1371600"/>
          </a:xfrm>
          <a:prstGeom prst="roundRect">
            <a:avLst>
              <a:gd name="adj" fmla="val 16667"/>
            </a:avLst>
          </a:prstGeom>
          <a:solidFill>
            <a:srgbClr val="F5F0E4"/>
          </a:solidFill>
          <a:ln w="12700">
            <a:solidFill>
              <a:srgbClr val="F5F0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4800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4403A"/>
                </a:solidFill>
              </a:rPr>
              <a:t>TORSDAG 22. OKTOBER 2026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19.30–21.00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Hodde-Tistrup Hallens mødelokale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INVITATIONEN · AFTENENS PROGRAM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Tistrup Erhvervs- og Borgerforening inviterer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Vi står stærkere, når vi løfter i flok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23113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07592" y="213055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Fælles kommunikation</a:t>
            </a:r>
            <a:pPr indent="0" marL="0">
              <a:buNone/>
            </a:pPr>
            <a:r>
              <a:rPr lang="en-US" sz="1000" b="1" dirty="0">
                <a:solidFill>
                  <a:srgbClr val="A87612"/>
                </a:solidFill>
              </a:rPr>
              <a:t>  ·  vi er her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45059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Hvordan deler vi nyheder og aktiviteter bedre på tværs af Tistrup?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" y="328269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07592" y="318211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Udviklingsplanen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50215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Hvordan kan foreningerne bruge planen til projekter, sparring og ansøgninger?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" y="433425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423367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Konkrete aftaler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455371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Vi afslutter med ansvarlige, deadlines og en plan for den videre opfølgning.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0528" y="223113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04304" y="213055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Hjemmeside, Facebook og kalender</a:t>
            </a:r>
            <a:pPr indent="0" marL="0">
              <a:buNone/>
            </a:pPr>
            <a:r>
              <a:rPr lang="en-US" sz="1000" b="1" dirty="0">
                <a:solidFill>
                  <a:srgbClr val="A87612"/>
                </a:solidFill>
              </a:rPr>
              <a:t>  ·  vi er her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04304" y="245059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Hvordan skaber vi en enkel fælles struktur og et bedre overblik?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10528" y="328269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04304" y="3182112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Workshop: Fra idé til handling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04304" y="350215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Vi samler idéer og vælger de initiativer, der skal arbejdes videre med.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440680"/>
            <a:ext cx="10820095" cy="713232"/>
          </a:xfrm>
          <a:prstGeom prst="roundRect">
            <a:avLst>
              <a:gd name="adj" fmla="val 25641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MÅLET FOR AFTENEN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532120"/>
            <a:ext cx="7894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Fælles retning, bedre koordinering og konkrete initiativer på tværs af foreningerne.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VI HAR LYTTET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Problemet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Det har vi hørt, igen og igen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„Vi har et problem med kommunikation i Tistrup.”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3816" y="373989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07592" y="363931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6 møder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3959352"/>
            <a:ext cx="5961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BID- og udviklingsmøder i 2025 og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" y="465429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07592" y="455371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Samme svar hver gang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4873752"/>
            <a:ext cx="5961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Den gennemgående efterspørgsel fra alle møderne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286000"/>
            <a:ext cx="3685032" cy="3017520"/>
          </a:xfrm>
          <a:prstGeom prst="roundRect">
            <a:avLst>
              <a:gd name="adj" fmla="val 6667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26334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FRA MØDERNE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Kommunikation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83880" y="3858768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114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A"/>
                </a:solidFill>
              </a:rPr>
              <a:t>Det var det ord, der gik igen, uanset hvem der sad rundt om bordet.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ET SPØRGSMÅL TIL SALEN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E0DA"/>
                </a:solidFill>
              </a:rPr>
              <a:t>Problemet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789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Hvor går du hen som borger for at finde ud af, hvad der sker i Tistrup?</a:t>
            </a:r>
            <a:endParaRPr lang="en-US" sz="3800" dirty="0"/>
          </a:p>
        </p:txBody>
      </p:sp>
      <p:sp>
        <p:nvSpPr>
          <p:cNvPr id="5" name="Guldstreg"/>
          <p:cNvSpPr/>
          <p:nvPr/>
        </p:nvSpPr>
        <p:spPr>
          <a:xfrm>
            <a:off x="685800" y="443484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A"/>
                </a:solidFill>
              </a:rPr>
              <a:t>Vi var uenige om svaret. Det var meget spredt.</a:t>
            </a:r>
            <a:endParaRPr lang="en-US" sz="2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ET SPØRGSMÅL MERE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E0DA"/>
                </a:solidFill>
              </a:rPr>
              <a:t>Problemet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789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Hvor deler du dit arrangement som forening? Og hvem går du til?</a:t>
            </a:r>
            <a:endParaRPr lang="en-US" sz="3800" dirty="0"/>
          </a:p>
        </p:txBody>
      </p:sp>
      <p:sp>
        <p:nvSpPr>
          <p:cNvPr id="5" name="Guldstreg"/>
          <p:cNvSpPr/>
          <p:nvPr/>
        </p:nvSpPr>
        <p:spPr>
          <a:xfrm>
            <a:off x="685800" y="443484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A"/>
                </a:solidFill>
              </a:rPr>
              <a:t>Mange har deres faste favorit, men vi er ikke enige om den samme.</a:t>
            </a:r>
            <a:endParaRPr lang="en-US" sz="2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SÅ VI KORTLAGDE ALT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Problemet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Alle de kanaler vi har. Listen er lang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3442106" cy="2011680"/>
          </a:xfrm>
          <a:prstGeom prst="roundRect">
            <a:avLst>
              <a:gd name="adj" fmla="val 10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79192"/>
            <a:ext cx="28020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Kommunalt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08152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264408"/>
            <a:ext cx="28020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Fællesskaber Varde, Pulsen i Vest, Ruban.nu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4794" y="2057400"/>
            <a:ext cx="3442106" cy="2011680"/>
          </a:xfrm>
          <a:prstGeom prst="roundRect">
            <a:avLst>
              <a:gd name="adj" fmla="val 10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4834" y="233172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4834" y="2679192"/>
            <a:ext cx="28020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Lokale hjemmesider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4834" y="308152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94834" y="3264408"/>
            <a:ext cx="28020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Tistrup Nyt, Tistrup News, tistrupby.dk, vores-tistrup.dk, localnews.dk, Hodde, Ølgod og flere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3789" y="2057400"/>
            <a:ext cx="3442106" cy="2011680"/>
          </a:xfrm>
          <a:prstGeom prst="roundRect">
            <a:avLst>
              <a:gd name="adj" fmla="val 10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3829" y="233172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83829" y="2679192"/>
            <a:ext cx="28020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Facebook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3829" y="308152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83829" y="3264408"/>
            <a:ext cx="28020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Tre grupper og to sider om Tistrup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297680"/>
            <a:ext cx="3442106" cy="1828800"/>
          </a:xfrm>
          <a:prstGeom prst="roundRect">
            <a:avLst>
              <a:gd name="adj" fmla="val 11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57200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919472"/>
            <a:ext cx="28020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Fysiske steder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532180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5504688"/>
            <a:ext cx="2802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Flyers, byportaler, infoskærme, opslagstavler, lygtepæle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74794" y="4297680"/>
            <a:ext cx="3442106" cy="1828800"/>
          </a:xfrm>
          <a:prstGeom prst="roundRect">
            <a:avLst>
              <a:gd name="adj" fmla="val 11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94834" y="457200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94834" y="4919472"/>
            <a:ext cx="28020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Foreningernes egne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94834" y="532180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4834" y="5504688"/>
            <a:ext cx="2802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Hjemmesider og Facebook-sider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63789" y="4297680"/>
            <a:ext cx="3442106" cy="1828800"/>
          </a:xfrm>
          <a:prstGeom prst="roundRect">
            <a:avLst>
              <a:gd name="adj" fmla="val 11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83829" y="457200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B447"/>
                </a:solidFill>
              </a:rPr>
              <a:t>NÆSTE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83829" y="4919472"/>
            <a:ext cx="28020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Én ad gangen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3829" y="532180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83829" y="5504688"/>
            <a:ext cx="28020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A"/>
                </a:solidFill>
              </a:rPr>
              <a:t>Vi gennemgår dem hurtigt, så I kan se, hvor spredt det 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KOMMUNALT · 1 AF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Fællesskaber Varde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Kommunens samlede side for foreninger og aktiviteter.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Fællesskaber Varde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KOMMUNALT · 2 AF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Pulsen i Vest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Kalender over begivenheder i området, som man kan scrolle sig igennem.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Pulsen i Vest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KOMMUNALT · 3 AF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Ruban.nu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Kommunal kanal, hvor arrangementer kan blive vist.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Ruban.nu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LOKALE HJEMMESIDER · 1 AF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Tistrupnyt.dk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Lokale nyheder fra Tistrup.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6F69"/>
                </a:solidFill>
              </a:rPr>
              <a:t>tistrupnyt.dk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Tistrupnyt.dk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LOKALE HJEMMESIDER · 2 AF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Tistrupnews.dk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Endnu en lokal nyhedsside om Tistrup.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6F69"/>
                </a:solidFill>
              </a:rPr>
              <a:t>tistrupnews.dk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Tistrupnews.dk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LOKALE HJEMMESIDER · 3 AF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tistrupby.dk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Hjemmeside om byen.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6F69"/>
                </a:solidFill>
              </a:rPr>
              <a:t>tistrupby.dk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tistrupby.dk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LOKALE HJEMMESIDER · 4 AF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vores-tistrup.dk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Hjemmeside for Tistrups borgere.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6F69"/>
                </a:solidFill>
              </a:rPr>
              <a:t>vores-tistrup.dk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513832" cy="3931920"/>
          </a:xfrm>
          <a:prstGeom prst="roundRect">
            <a:avLst>
              <a:gd name="adj" fmla="val 4186"/>
            </a:avLst>
          </a:prstGeom>
          <a:solidFill>
            <a:srgbClr val="DCE8E3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989320" y="384048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vores-tistrup.dk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416052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LOKALE HJEMMESIDER · 5 AF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localnews.dk, Hodde og Ølgod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localnews.dk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91840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Nyhedsside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05840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4794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4834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4834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Hodde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94834" y="3291840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Lokal hjemmeside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4834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694834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3789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3829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3829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Ølgod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83829" y="3291840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Lokal hjemmeside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83829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383829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FACEBOOK-GRUPPER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Tre grupper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Info – til og fra Tistrup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91840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Gruppe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05840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4794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4834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4834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Os der bor i Tistrup og Hodde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94834" y="3291840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Gruppe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4834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694834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3789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3829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3829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Tistrup – fællesskab og dialog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83829" y="3291840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Gruppe · drevet af TEB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83829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383829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FACEBOOK-SIDER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To sider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5286604" cy="3977640"/>
          </a:xfrm>
          <a:prstGeom prst="roundRect">
            <a:avLst>
              <a:gd name="adj" fmla="val 5057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646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403A"/>
                </a:solidFill>
              </a:rPr>
              <a:t>Tistrup Nyt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91840"/>
            <a:ext cx="464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Side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703320"/>
            <a:ext cx="4646524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05840" y="464058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9292" y="2103120"/>
            <a:ext cx="5286604" cy="3977640"/>
          </a:xfrm>
          <a:prstGeom prst="roundRect">
            <a:avLst>
              <a:gd name="adj" fmla="val 5057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9332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39332" y="2697480"/>
            <a:ext cx="4646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403A"/>
                </a:solidFill>
              </a:rPr>
              <a:t>Tistrup Erhvervs- og Borgerforening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39332" y="3291840"/>
            <a:ext cx="464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Side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9332" y="3703320"/>
            <a:ext cx="4646524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539332" y="464058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skærmbillede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FYSISKE STEDER · 1 AF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Flyers og byportaler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5286604" cy="3977640"/>
          </a:xfrm>
          <a:prstGeom prst="roundRect">
            <a:avLst>
              <a:gd name="adj" fmla="val 5057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646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403A"/>
                </a:solidFill>
              </a:rPr>
              <a:t>Flyers til postkasser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91840"/>
            <a:ext cx="464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Uddeles i hånden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703320"/>
            <a:ext cx="4646524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05840" y="464058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foto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9292" y="2103120"/>
            <a:ext cx="5286604" cy="3977640"/>
          </a:xfrm>
          <a:prstGeom prst="roundRect">
            <a:avLst>
              <a:gd name="adj" fmla="val 5057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9332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39332" y="2697480"/>
            <a:ext cx="46465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403A"/>
                </a:solidFill>
              </a:rPr>
              <a:t>Byportaler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39332" y="3291840"/>
            <a:ext cx="464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Analoge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9332" y="3703320"/>
            <a:ext cx="4646524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539332" y="464058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foto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FYSISKE STEDER · 2 AF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Infoskærme, opslagstavler og lygtepæle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Infoskærme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1005840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foto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4794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4834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4834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Opslagstavler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94834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694834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foto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3789" y="2103120"/>
            <a:ext cx="3442106" cy="3977640"/>
          </a:xfrm>
          <a:prstGeom prst="roundRect">
            <a:avLst>
              <a:gd name="adj" fmla="val 5844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3829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83829" y="2697480"/>
            <a:ext cx="2802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403A"/>
                </a:solidFill>
              </a:rPr>
              <a:t>Lygtepæle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83829" y="3703320"/>
            <a:ext cx="2802026" cy="2057400"/>
          </a:xfrm>
          <a:prstGeom prst="roundRect">
            <a:avLst>
              <a:gd name="adj" fmla="val 8000"/>
            </a:avLst>
          </a:prstGeom>
          <a:solidFill>
            <a:srgbClr val="EAF1ED"/>
          </a:solidFill>
          <a:ln w="19050">
            <a:solidFill>
              <a:srgbClr val="B9CBC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383829" y="464058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F69"/>
                </a:solidFill>
              </a:rPr>
              <a:t>Indsæt foto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FORENINGERNES EGNE KANALER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Kanalerne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Og foreningernes egne sider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3533546" cy="1426464"/>
          </a:xfrm>
          <a:prstGeom prst="roundRect">
            <a:avLst>
              <a:gd name="adj" fmla="val 6410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85800" y="2103120"/>
            <a:ext cx="353354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Udklip: hjemmeside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9074" y="2103120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29074" y="2103120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50712" y="2103120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150712" y="2103120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72349" y="2103120"/>
            <a:ext cx="1711909" cy="1426464"/>
          </a:xfrm>
          <a:prstGeom prst="roundRect">
            <a:avLst>
              <a:gd name="adj" fmla="val 6410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72349" y="2103120"/>
            <a:ext cx="1711909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93986" y="2103120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93986" y="2103120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9074" y="2871216"/>
            <a:ext cx="3533546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329074" y="2871216"/>
            <a:ext cx="3533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93986" y="2871216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793986" y="2871216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639312"/>
            <a:ext cx="3533546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85800" y="3639312"/>
            <a:ext cx="3533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29074" y="3639312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329074" y="3639312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50712" y="3639312"/>
            <a:ext cx="3533546" cy="658368"/>
          </a:xfrm>
          <a:prstGeom prst="roundRect">
            <a:avLst>
              <a:gd name="adj" fmla="val 13889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50712" y="3639312"/>
            <a:ext cx="3533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93986" y="3639312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93986" y="3639312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4407408"/>
            <a:ext cx="3533546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" y="4407408"/>
            <a:ext cx="3533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29074" y="4407408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29074" y="4407408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50712" y="4407408"/>
            <a:ext cx="3533546" cy="658368"/>
          </a:xfrm>
          <a:prstGeom prst="roundRect">
            <a:avLst>
              <a:gd name="adj" fmla="val 13889"/>
            </a:avLst>
          </a:prstGeom>
          <a:solidFill>
            <a:srgbClr val="DCE8E3"/>
          </a:solidFill>
          <a:ln w="12700">
            <a:solidFill>
              <a:srgbClr val="B9CBC4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150712" y="4407408"/>
            <a:ext cx="35335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F69"/>
                </a:solidFill>
              </a:rPr>
              <a:t>Hjemmeside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93986" y="4407408"/>
            <a:ext cx="1711909" cy="658368"/>
          </a:xfrm>
          <a:prstGeom prst="roundRect">
            <a:avLst>
              <a:gd name="adj" fmla="val 13889"/>
            </a:avLst>
          </a:prstGeom>
          <a:solidFill>
            <a:srgbClr val="D8E2F2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93986" y="4407408"/>
            <a:ext cx="171190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66B"/>
                </a:solidFill>
              </a:rPr>
              <a:t>Facebook-side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Mange hjemmesider og Facebook-sider. Det præcise antal finder vi senere.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OPSUMMERING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E0DA"/>
                </a:solidFill>
              </a:rPr>
              <a:t>Problemet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Det kan simpelthen ikke passe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Hver kilde har sine styrker, men samlet er det uoverskueligt.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3816" y="373989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07592" y="363931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Borgeren leder forskellige steder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" y="437997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07592" y="427939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Foreningen deler forskellige steder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" y="502005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07592" y="491947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Ingen har overblikket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2286000"/>
            <a:ext cx="3685032" cy="3017520"/>
          </a:xfrm>
          <a:prstGeom prst="roundRect">
            <a:avLst>
              <a:gd name="adj" fmla="val 6667"/>
            </a:avLst>
          </a:prstGeom>
          <a:solidFill>
            <a:srgbClr val="F5F0E4"/>
          </a:solidFill>
          <a:ln w="12700">
            <a:solidFill>
              <a:srgbClr val="F5F0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26334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RESULTATET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Spredt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83880" y="3858768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114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9"/>
                </a:solidFill>
              </a:rPr>
              <a:t>Mange kanaler og ingen fælles indgang.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BONUS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Problemet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Vi ved ikke engang, hvem vi alle 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Vi fandt ikke en opdateret liste over foreninger i Tistrup. Ingen steder.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D6F69"/>
                </a:solidFill>
              </a:rPr>
              <a:t>Beklager, hvis vi missede jer i invitationen.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18120" y="2286000"/>
            <a:ext cx="3685032" cy="3017520"/>
          </a:xfrm>
          <a:prstGeom prst="roundRect">
            <a:avLst>
              <a:gd name="adj" fmla="val 6667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26334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DERFOR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Én liste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83880" y="3858768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114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A"/>
                </a:solidFill>
              </a:rPr>
              <a:t>Vi vil lave en fælles og opdateret oversigt over byens foreninger.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E0DA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 paraply, hvor alt samles under TEB</a:t>
            </a:r>
            <a:endParaRPr lang="en-US" sz="4000" dirty="0"/>
          </a:p>
        </p:txBody>
      </p:sp>
      <p:sp>
        <p:nvSpPr>
          <p:cNvPr id="5" name="Guldstreg"/>
          <p:cNvSpPr/>
          <p:nvPr/>
        </p:nvSpPr>
        <p:spPr>
          <a:xfrm>
            <a:off x="685800" y="379476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114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0DA"/>
                </a:solidFill>
              </a:rPr>
              <a:t>Ingen ny konkurrent. Alle kanaler består. De peger bare mod ét sted.</a:t>
            </a:r>
            <a:endParaRPr lang="en-US" sz="2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FÆLLES AFSÆT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Tre dele på hjemmesiden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3442106" cy="3383280"/>
          </a:xfrm>
          <a:prstGeom prst="roundRect">
            <a:avLst>
              <a:gd name="adj" fmla="val 5946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7744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24912"/>
            <a:ext cx="28020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403A"/>
                </a:solidFill>
              </a:rPr>
              <a:t>Foreninger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36392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Overblikket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483864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666744"/>
            <a:ext cx="280202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9"/>
                </a:solidFill>
              </a:rPr>
              <a:t>Oversigt over byens foreninger og en lille portal, hvor I styrer jeres egen profil.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4794" y="2103120"/>
            <a:ext cx="3442106" cy="3383280"/>
          </a:xfrm>
          <a:prstGeom prst="roundRect">
            <a:avLst>
              <a:gd name="adj" fmla="val 5946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4834" y="237744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B447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94834" y="2724912"/>
            <a:ext cx="28020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Kalender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94834" y="3136392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B447"/>
                </a:solidFill>
              </a:rPr>
              <a:t>Det koordinerende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4834" y="3483864"/>
            <a:ext cx="411480" cy="45720"/>
          </a:xfrm>
          <a:prstGeom prst="roundRect">
            <a:avLst>
              <a:gd name="adj" fmla="val 4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4834" y="3666744"/>
            <a:ext cx="280202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A"/>
                </a:solidFill>
              </a:rPr>
              <a:t>Den fælles aktivitetskalender, hvor I selv opretter jeres arrangementer.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63789" y="2103120"/>
            <a:ext cx="3442106" cy="3383280"/>
          </a:xfrm>
          <a:prstGeom prst="roundRect">
            <a:avLst>
              <a:gd name="adj" fmla="val 5946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3829" y="237744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83829" y="2724912"/>
            <a:ext cx="28020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403A"/>
                </a:solidFill>
              </a:rPr>
              <a:t>Det sker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83829" y="3136392"/>
            <a:ext cx="280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Indgangen til resten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83829" y="3483864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83829" y="3666744"/>
            <a:ext cx="280202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9"/>
                </a:solidFill>
              </a:rPr>
              <a:t>Links til aviser, nyhedssider og Facebook, som vi ikke selv ejer.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Det eksterne linker vi til. Kalenderen er vores egen.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FORENINGER · OVERSIGTEN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Én opdateret liste over byens foreninger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Med søgning, formand og basale oplysninger.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80360"/>
          <a:ext cx="1082009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383280"/>
                <a:gridCol w="28620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Forening</a:t>
                      </a:r>
                      <a:endParaRPr lang="en-US" sz="12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Formand</a:t>
                      </a:r>
                      <a:endParaRPr lang="en-US" sz="12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4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Kontakt</a:t>
                      </a:r>
                      <a:endParaRPr lang="en-US" sz="12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40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Eksempel Idrætsforening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Navn Navnesen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e-mail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Eksempel Spejdergruppe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Navn Navnesen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e-mail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E8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Eksempel Beboerforening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Navn Navnesen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403A"/>
                          </a:solidFill>
                        </a:rPr>
                        <a:t>e-mail</a:t>
                      </a:r>
                      <a:endParaRPr lang="en-US" sz="1400" dirty="0"/>
                    </a:p>
                  </a:txBody>
                  <a:tcPr marL="137160" marR="13716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F69"/>
                </a:solidFill>
              </a:rPr>
              <a:t>Eksempelrækker.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FORENINGER · JERES PORTAL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Log ind med din e-mail. Ingen adgangskode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3442106" cy="2377440"/>
          </a:xfrm>
          <a:prstGeom prst="roundRect">
            <a:avLst>
              <a:gd name="adj" fmla="val 8462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7744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24912"/>
            <a:ext cx="28020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03A"/>
                </a:solidFill>
              </a:rPr>
              <a:t>Skriv din e-mail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17296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355848"/>
            <a:ext cx="2802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9"/>
                </a:solidFill>
              </a:rPr>
              <a:t>Den, foreningen har registreret.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4794" y="2103120"/>
            <a:ext cx="3442106" cy="2377440"/>
          </a:xfrm>
          <a:prstGeom prst="roundRect">
            <a:avLst>
              <a:gd name="adj" fmla="val 8462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4834" y="237744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94834" y="2724912"/>
            <a:ext cx="28020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03A"/>
                </a:solidFill>
              </a:rPr>
              <a:t>Få en engangskode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94834" y="317296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94834" y="3355848"/>
            <a:ext cx="2802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9"/>
                </a:solidFill>
              </a:rPr>
              <a:t>Koden kommer til din indbakke.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F69"/>
                </a:solidFill>
              </a:rPr>
              <a:t>••••••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3789" y="2103120"/>
            <a:ext cx="3442106" cy="2377440"/>
          </a:xfrm>
          <a:prstGeom prst="roundRect">
            <a:avLst>
              <a:gd name="adj" fmla="val 8462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3829" y="2377440"/>
            <a:ext cx="2802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B447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83829" y="2724912"/>
            <a:ext cx="28020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Du er inde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3829" y="317296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83829" y="3355848"/>
            <a:ext cx="2802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A"/>
                </a:solidFill>
              </a:rPr>
              <a:t>Redigér profilen, se hvem der har adgang, og se jeres arrangementer.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DET SKER · DET EKSTERNE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Det vi ikke selv ejer, linker vi til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403A"/>
                </a:solidFill>
              </a:rPr>
              <a:t>Aviser og nyhedssider forbliver, hvor de 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851660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46120"/>
            <a:ext cx="18516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TEB på Facebook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74620" y="3246120"/>
            <a:ext cx="1641348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4620" y="3246120"/>
            <a:ext cx="16413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Pulsen i Vest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3128" y="3246120"/>
            <a:ext cx="2167128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53128" y="324612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Fællesskaber Varde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813048"/>
            <a:ext cx="1431036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13048"/>
            <a:ext cx="14310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Tistrup Nyt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53996" y="3813048"/>
            <a:ext cx="1536192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53996" y="381304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Tistrup News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27348" y="3813048"/>
            <a:ext cx="1536192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27348" y="381304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tistrupby.dk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379976"/>
            <a:ext cx="1956816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37997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vores-tistrup.dk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79776" y="4379976"/>
            <a:ext cx="1536192" cy="411480"/>
          </a:xfrm>
          <a:prstGeom prst="roundRect">
            <a:avLst>
              <a:gd name="adj" fmla="val 48889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79776" y="4379976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403A"/>
                </a:solidFill>
              </a:rPr>
              <a:t>localnews.dk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8120" y="2286000"/>
            <a:ext cx="3685032" cy="3017520"/>
          </a:xfrm>
          <a:prstGeom prst="roundRect">
            <a:avLst>
              <a:gd name="adj" fmla="val 6667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26334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PRINCIPPET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Én indgang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183880" y="3858768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4114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A"/>
                </a:solidFill>
              </a:rPr>
              <a:t>Ingen skal huske otte adresser for at finde ud af, hvad der sker.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KALENDER · HVORFOR VORES EGEN?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E0DA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Før skulle du sende det til en anden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5286604" cy="2377440"/>
          </a:xfrm>
          <a:prstGeom prst="roundRect">
            <a:avLst>
              <a:gd name="adj" fmla="val 8462"/>
            </a:avLst>
          </a:prstGeom>
          <a:solidFill>
            <a:srgbClr val="2D5A52"/>
          </a:solidFill>
          <a:ln w="12700">
            <a:solidFill>
              <a:srgbClr val="2D5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7744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B447"/>
                </a:solidFill>
              </a:rPr>
              <a:t>FØR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24912"/>
            <a:ext cx="4646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Mail til en anden side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321868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6465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A"/>
                </a:solidFill>
              </a:rPr>
              <a:t>Du sendte arrangementet til Tistrup Nyt eller en anden kanal. De oprettede det, når de havde tid, og kun hos dem.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9292" y="2103120"/>
            <a:ext cx="5286604" cy="2377440"/>
          </a:xfrm>
          <a:prstGeom prst="roundRect">
            <a:avLst>
              <a:gd name="adj" fmla="val 8462"/>
            </a:avLst>
          </a:prstGeom>
          <a:solidFill>
            <a:srgbClr val="F5F0E4"/>
          </a:solidFill>
          <a:ln w="12700">
            <a:solidFill>
              <a:srgbClr val="F5F0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9332" y="237744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87612"/>
                </a:solidFill>
              </a:rPr>
              <a:t>NU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9332" y="2724912"/>
            <a:ext cx="4646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403A"/>
                </a:solidFill>
              </a:rPr>
              <a:t>Du opretter selv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9332" y="321868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9332" y="3401568"/>
            <a:ext cx="46465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9"/>
                </a:solidFill>
              </a:rPr>
              <a:t>Log ind, opret arrangementet og vær færdig. Det kommer i kalenderen og kan nå ud på de analoge kanaler.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KALENDER · ÉT ARRANGEMENT, MANGE KANALER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Opret én gang. Bliv set mange steder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200400"/>
            <a:ext cx="3200400" cy="1463040"/>
          </a:xfrm>
          <a:prstGeom prst="roundRect">
            <a:avLst>
              <a:gd name="adj" fmla="val 15625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Dit arrangement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A"/>
                </a:solidFill>
              </a:rPr>
              <a:t>Oprettet i TEB’s kalender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V="1">
            <a:off x="3886200" y="2331720"/>
            <a:ext cx="3429000" cy="1600200"/>
          </a:xfrm>
          <a:prstGeom prst="line">
            <a:avLst/>
          </a:prstGeom>
          <a:noFill/>
          <a:ln w="25400">
            <a:solidFill>
              <a:srgbClr val="E8B4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103120"/>
            <a:ext cx="4190695" cy="457200"/>
          </a:xfrm>
          <a:prstGeom prst="roundRect">
            <a:avLst>
              <a:gd name="adj" fmla="val 24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10312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Digital kalender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3886200" y="2990088"/>
            <a:ext cx="3429000" cy="941832"/>
          </a:xfrm>
          <a:prstGeom prst="line">
            <a:avLst/>
          </a:prstGeom>
          <a:noFill/>
          <a:ln w="25400">
            <a:solidFill>
              <a:srgbClr val="E8B4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761488"/>
            <a:ext cx="4190695" cy="457200"/>
          </a:xfrm>
          <a:prstGeom prst="roundRect">
            <a:avLst>
              <a:gd name="adj" fmla="val 24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2761488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Flyers til postkasser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3886200" y="3648456"/>
            <a:ext cx="3429000" cy="283464"/>
          </a:xfrm>
          <a:prstGeom prst="line">
            <a:avLst/>
          </a:prstGeom>
          <a:noFill/>
          <a:ln w="25400">
            <a:solidFill>
              <a:srgbClr val="E8B4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3419856"/>
            <a:ext cx="4190695" cy="457200"/>
          </a:xfrm>
          <a:prstGeom prst="roundRect">
            <a:avLst>
              <a:gd name="adj" fmla="val 24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3419856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Analoge byportaler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86200" y="3931920"/>
            <a:ext cx="3429000" cy="374904"/>
          </a:xfrm>
          <a:prstGeom prst="line">
            <a:avLst/>
          </a:prstGeom>
          <a:noFill/>
          <a:ln w="25400">
            <a:solidFill>
              <a:srgbClr val="E8B4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4078224"/>
            <a:ext cx="4190695" cy="457200"/>
          </a:xfrm>
          <a:prstGeom prst="roundRect">
            <a:avLst>
              <a:gd name="adj" fmla="val 24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4078224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Infoskærme i Varde Kommune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86200" y="3931920"/>
            <a:ext cx="3429000" cy="1033272"/>
          </a:xfrm>
          <a:prstGeom prst="line">
            <a:avLst/>
          </a:prstGeom>
          <a:noFill/>
          <a:ln w="25400">
            <a:solidFill>
              <a:srgbClr val="E8B4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4736592"/>
            <a:ext cx="4190695" cy="457200"/>
          </a:xfrm>
          <a:prstGeom prst="roundRect">
            <a:avLst>
              <a:gd name="adj" fmla="val 24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4736592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Opslagstavler i byen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86200" y="3931920"/>
            <a:ext cx="3429000" cy="1691640"/>
          </a:xfrm>
          <a:prstGeom prst="line">
            <a:avLst/>
          </a:prstGeom>
          <a:noFill/>
          <a:ln w="25400">
            <a:solidFill>
              <a:srgbClr val="E8B4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5394960"/>
            <a:ext cx="4190695" cy="457200"/>
          </a:xfrm>
          <a:prstGeom prst="roundRect">
            <a:avLst>
              <a:gd name="adj" fmla="val 24000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539496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3A"/>
                </a:solidFill>
              </a:rPr>
              <a:t>Lygtepæle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KALENDER · SÅDAN SER DEN UD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Overblik på uge og måned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MAN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4591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4319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TIR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6031" y="2560320"/>
            <a:ext cx="1284471" cy="640080"/>
          </a:xfrm>
          <a:prstGeom prst="roundRect">
            <a:avLst>
              <a:gd name="adj" fmla="val 11429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09183" y="2633472"/>
            <a:ext cx="1138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Eksempel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Hallen 19:00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03381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13109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62172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71900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53612" y="2560320"/>
            <a:ext cx="1284471" cy="640080"/>
          </a:xfrm>
          <a:prstGeom prst="roundRect">
            <a:avLst>
              <a:gd name="adj" fmla="val 11429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6764" y="2633472"/>
            <a:ext cx="1138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Eksempel
</a:t>
            </a:r>
            <a:pPr indent="0" marL="0">
              <a:buNone/>
            </a:pPr>
            <a:r>
              <a:rPr lang="en-US" sz="1000" dirty="0">
                <a:solidFill>
                  <a:srgbClr val="14403A"/>
                </a:solidFill>
              </a:rPr>
              <a:t>Forsamlingshuset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53612" y="3310128"/>
            <a:ext cx="1284471" cy="640080"/>
          </a:xfrm>
          <a:prstGeom prst="roundRect">
            <a:avLst>
              <a:gd name="adj" fmla="val 11429"/>
            </a:avLst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26764" y="3383280"/>
            <a:ext cx="1138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Eksempel
</a:t>
            </a:r>
            <a:pPr indent="0" marL="0">
              <a:buNone/>
            </a:pPr>
            <a:r>
              <a:rPr lang="en-US" sz="1000" dirty="0">
                <a:solidFill>
                  <a:srgbClr val="14403A"/>
                </a:solidFill>
              </a:rPr>
              <a:t>Kl. 10:00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20963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30691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FRE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79754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89482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LØR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71194" y="2560320"/>
            <a:ext cx="1284471" cy="640080"/>
          </a:xfrm>
          <a:prstGeom prst="roundRect">
            <a:avLst>
              <a:gd name="adj" fmla="val 11429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44346" y="2633472"/>
            <a:ext cx="1138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Eksempel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Torvet 11:00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38544" y="2103120"/>
            <a:ext cx="1467351" cy="3383280"/>
          </a:xfrm>
          <a:prstGeom prst="roundRect">
            <a:avLst>
              <a:gd name="adj" fmla="val 7478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8272" y="2212848"/>
            <a:ext cx="128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D6F69"/>
                </a:solidFill>
              </a:rPr>
              <a:t>SØN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6692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6F69"/>
                </a:solidFill>
              </a:rPr>
              <a:t>Eksempelvisning. Digital kalender i stil med Pulsen i Vest, men på uge- og månedsniveau. Dertil en enklere analog kvartalsoversigt.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KALENDER · OPRET ET ARRANGEMENT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Løsningen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Logget ind eller ej, du kan altid indsende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5286604" cy="2103120"/>
          </a:xfrm>
          <a:prstGeom prst="roundRect">
            <a:avLst>
              <a:gd name="adj" fmla="val 9565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7744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B447"/>
                </a:solidFill>
              </a:rPr>
              <a:t>LOGGET IND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24912"/>
            <a:ext cx="4646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Direkte i kalenderen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321868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6465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0DA"/>
                </a:solidFill>
              </a:rPr>
              <a:t>Opret så mange arrangementer, du vil.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9292" y="2103120"/>
            <a:ext cx="5286604" cy="2103120"/>
          </a:xfrm>
          <a:prstGeom prst="roundRect">
            <a:avLst>
              <a:gd name="adj" fmla="val 9565"/>
            </a:avLst>
          </a:prstGeom>
          <a:solidFill>
            <a:srgbClr val="DCE8E3"/>
          </a:solidFill>
          <a:ln w="12700">
            <a:solidFill>
              <a:srgbClr val="DCE8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9332" y="2377440"/>
            <a:ext cx="4646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403A"/>
                </a:solidFill>
              </a:rPr>
              <a:t>IKKE LOGGET IND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9332" y="2724912"/>
            <a:ext cx="4646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403A"/>
                </a:solidFill>
              </a:rPr>
              <a:t>TEB godkender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9332" y="3218688"/>
            <a:ext cx="411480" cy="45720"/>
          </a:xfrm>
          <a:prstGeom prst="roundRect">
            <a:avLst>
              <a:gd name="adj" fmla="val 40000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9332" y="3401568"/>
            <a:ext cx="46465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9"/>
                </a:solidFill>
              </a:rPr>
              <a:t>Vi får en e-mail og godkender arrangementet, før det vises.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7612"/>
                </a:solidFill>
              </a:rPr>
              <a:t>HVAD FÅR I UD AF DET?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D6F69"/>
                </a:solidFill>
              </a:rPr>
              <a:t>Næste skridt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403A"/>
                </a:solidFill>
              </a:rPr>
              <a:t>Mere synlighed med mindre arbejde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403A"/>
                </a:solidFill>
              </a:rPr>
              <a:t>Ét sted at oprette i stedet for flere.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3816" y="337413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07592" y="327355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Nå ud online, på tryk og i byen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3593592"/>
            <a:ext cx="5961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Fra samme oprettelse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" y="424281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07592" y="414223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Se hvad andre har gang 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4462272"/>
            <a:ext cx="5961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F69"/>
                </a:solidFill>
              </a:rPr>
              <a:t>Så vi undgår sammenfald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" y="5111496"/>
            <a:ext cx="146304" cy="14630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07592" y="5010912"/>
            <a:ext cx="5961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3A"/>
                </a:solidFill>
              </a:rPr>
              <a:t>Byens borgere kigger ét sted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2286000"/>
            <a:ext cx="3685032" cy="3017520"/>
          </a:xfrm>
          <a:prstGeom prst="roundRect">
            <a:avLst>
              <a:gd name="adj" fmla="val 6667"/>
            </a:avLst>
          </a:prstGeom>
          <a:solidFill>
            <a:srgbClr val="14403A"/>
          </a:solidFill>
          <a:ln w="12700">
            <a:solidFill>
              <a:srgbClr val="1440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633472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PRINCIPPET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99923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Ét sted.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Flere kanaler.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83880" y="3858768"/>
            <a:ext cx="548640" cy="54864"/>
          </a:xfrm>
          <a:prstGeom prst="roundRect">
            <a:avLst>
              <a:gd name="adj" fmla="val 50000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114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0DA"/>
                </a:solidFill>
              </a:rPr>
              <a:t>Vi prioriterer få ting, som faktisk kan sættes i gang.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9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MÅSKE SENERE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933895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E0DA"/>
                </a:solidFill>
              </a:rPr>
              <a:t>Næste skridt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 Tistrup-app?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93512" y="352044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886200"/>
            <a:ext cx="8076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E0DA"/>
                </a:solidFill>
              </a:rPr>
              <a:t>En tanke på længere sigt. Først får vi grundlaget på plads.</a:t>
            </a:r>
            <a:endParaRPr lang="en-US" sz="20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ø med bro og shelter i skov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B447"/>
                </a:solidFill>
              </a:rPr>
              <a:t>NÆSTE SKRIDT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85800" y="7132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Det beder vi jer om</a:t>
            </a:r>
            <a:endParaRPr lang="en-US" sz="3000" dirty="0"/>
          </a:p>
        </p:txBody>
      </p:sp>
      <p:sp>
        <p:nvSpPr>
          <p:cNvPr id="5" name="Guldstreg"/>
          <p:cNvSpPr/>
          <p:nvPr/>
        </p:nvSpPr>
        <p:spPr>
          <a:xfrm>
            <a:off x="685800" y="1417320"/>
            <a:ext cx="804672" cy="64008"/>
          </a:xfrm>
          <a:prstGeom prst="roundRect">
            <a:avLst>
              <a:gd name="adj" fmla="val 42857"/>
            </a:avLst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2286000"/>
            <a:ext cx="420624" cy="42062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07592" y="2267712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Registrér jeres forening og en kontaktperson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063240"/>
            <a:ext cx="420624" cy="42062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07592" y="3044952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Log ind og tjek jeres profil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840480"/>
            <a:ext cx="420624" cy="420624"/>
          </a:xfrm>
          <a:prstGeom prst="ellipse">
            <a:avLst/>
          </a:prstGeom>
          <a:solidFill>
            <a:srgbClr val="E8B447"/>
          </a:solidFill>
          <a:ln w="12700">
            <a:solidFill>
              <a:srgbClr val="E8B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403A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07592" y="3822192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Læg jeres næste arrangement i kalenderen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937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B447"/>
                </a:solidFill>
              </a:rPr>
              <a:t>Frist: [indsæt dato]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40080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A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men om Tistrup">
  <a:themeElements>
    <a:clrScheme name="Sammen om Tistrup">
      <a:dk1>
        <a:srgbClr val="14403A"/>
      </a:dk1>
      <a:lt1>
        <a:srgbClr val="F5F0E4"/>
      </a:lt1>
      <a:dk2>
        <a:srgbClr val="0C2C28"/>
      </a:dk2>
      <a:lt2>
        <a:srgbClr val="DCE8E3"/>
      </a:lt2>
      <a:accent1>
        <a:srgbClr val="E8B447"/>
      </a:accent1>
      <a:accent2>
        <a:srgbClr val="A87612"/>
      </a:accent2>
      <a:accent3>
        <a:srgbClr val="5D6F69"/>
      </a:accent3>
      <a:accent4>
        <a:srgbClr val="B9CBC4"/>
      </a:accent4>
      <a:accent5>
        <a:srgbClr val="3D6048"/>
      </a:accent5>
      <a:accent6>
        <a:srgbClr val="F5E6B8"/>
      </a:accent6>
      <a:hlink>
        <a:srgbClr val="A87612"/>
      </a:hlink>
      <a:folHlink>
        <a:srgbClr val="5D6F69"/>
      </a:folHlink>
    </a:clrScheme>
    <a:fontScheme name="Sammen om Tistrup">
      <a:majorFont>
        <a:latin typeface="Verdan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 Tistrup – Sammen om Tistrup</dc:title>
  <dc:subject>PptxGenJS Presentation</dc:subject>
  <dc:creator>Tistrup Erhvervs- og Borgerforening</dc:creator>
  <cp:lastModifiedBy>Tistrup Erhvervs- og Borgerforening</cp:lastModifiedBy>
  <cp:revision>1</cp:revision>
  <dcterms:created xsi:type="dcterms:W3CDTF">2026-10-18T17:30:28Z</dcterms:created>
  <dcterms:modified xsi:type="dcterms:W3CDTF">2026-10-18T17:30:28Z</dcterms:modified>
</cp:coreProperties>
</file>